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Fraud Detection in Financial Transactions</a:t>
            </a:r>
            <a:br/>
            <a:r>
              <a:t>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Lee Hickey | Emma Reen | Sarah O'Hanlon</a:t>
            </a:r>
            <a:br/>
            <a:r>
              <a:t>Dublin City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Introduction &amp; Research Questions</a:t>
            </a:r>
          </a:p>
          <a:p>
            <a:pPr>
              <a:spcAft>
                <a:spcPts val="1400"/>
              </a:spcAft>
              <a:defRPr sz="2200"/>
            </a:pPr>
            <a:r>
              <a:t>• Dataset Overview &amp; Exploratory Analysis</a:t>
            </a:r>
          </a:p>
          <a:p>
            <a:pPr>
              <a:spcAft>
                <a:spcPts val="1400"/>
              </a:spcAft>
              <a:defRPr sz="2200"/>
            </a:pPr>
            <a:r>
              <a:t>• Critical Finding: Data Leakage Prevention</a:t>
            </a:r>
          </a:p>
          <a:p>
            <a:pPr>
              <a:spcAft>
                <a:spcPts val="1400"/>
              </a:spcAft>
              <a:defRPr sz="2200"/>
            </a:pPr>
            <a:r>
              <a:t>• RQ1: Algorithm Comparison</a:t>
            </a:r>
          </a:p>
          <a:p>
            <a:pPr>
              <a:spcAft>
                <a:spcPts val="1400"/>
              </a:spcAft>
              <a:defRPr sz="2200"/>
            </a:pPr>
            <a:r>
              <a:t>• RQ2: Feature Importance Analysis</a:t>
            </a:r>
          </a:p>
          <a:p>
            <a:pPr>
              <a:spcAft>
                <a:spcPts val="1400"/>
              </a:spcAft>
              <a:defRPr sz="2200"/>
            </a:pPr>
            <a:r>
              <a:t>• RQ3: Class Imbalance Handling</a:t>
            </a:r>
          </a:p>
          <a:p>
            <a:pPr>
              <a:spcAft>
                <a:spcPts val="1400"/>
              </a:spcAft>
              <a:defRPr sz="2200"/>
            </a:pPr>
            <a:r>
              <a:t>• Key Findings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Financial fraud costs billions annually worldwide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Traditional rule-based systems cannot adapt to evolving fraud patterns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Machine learning offers flexible pattern detection from data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Challenge: Extreme class imbalance (0.13% fraud rate)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Challenge: Avoiding data leakage for realistic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Dataset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PaySim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5486400" cy="19256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• 6,362,620 total transactions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8,213 fraudulent cases (0.13%)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5 transaction types: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CASH_IN, CASH_OUT, DEBIT,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PAYMENT, TRANSFER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Fraud only in TRANSFER &amp; CASH_OUT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Class imbalance ratio: 773:1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Fraud by Transaction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2_fraud_by_transaction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80160"/>
            <a:ext cx="10058400" cy="35217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Transaction Amount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3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5943600" cy="2069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• Fraudulent transactions have: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- Larger average amounts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- Different distribution pattern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Average Amount: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Legitimate: $178,197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  Fraudulent: $1,467,967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Frauds are 8.2x larger on 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4695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Critical Finding:</a:t>
            </a:r>
            <a:br>
              <a:rPr dirty="0"/>
            </a:br>
            <a:r>
              <a:rPr dirty="0"/>
              <a:t>Data Leakage Prevention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Data Leakage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Initial models achieved &gt;99% accuracy across all metrics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Investigation revealed: full_drain feature had +0.987 correlation with fraud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- 100% of full_drain=1 transactions were fraudulent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- 97.5% of all frauds had full_drain=1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Problem: full_drain requires POST-transaction data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Real systems must predict BEFORE transaction completes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This feature encodes the fraud definition itself!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Resolution: Pre-Transaction Features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Safe Features (10 total):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step, </a:t>
            </a:r>
            <a:r>
              <a:rPr dirty="0" err="1"/>
              <a:t>hour_of_day</a:t>
            </a:r>
            <a:r>
              <a:rPr dirty="0"/>
              <a:t>, day (temporal)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</a:t>
            </a:r>
            <a:r>
              <a:rPr dirty="0" err="1"/>
              <a:t>type_encoded</a:t>
            </a:r>
            <a:r>
              <a:rPr dirty="0"/>
              <a:t> (transaction type)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amount (transaction amount)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</a:t>
            </a:r>
            <a:r>
              <a:rPr dirty="0" err="1"/>
              <a:t>oldbalanceOrg</a:t>
            </a:r>
            <a:r>
              <a:rPr dirty="0"/>
              <a:t>, </a:t>
            </a:r>
            <a:r>
              <a:rPr dirty="0" err="1"/>
              <a:t>oldbalanceDest</a:t>
            </a:r>
            <a:r>
              <a:rPr dirty="0"/>
              <a:t> (pre-transaction balances)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</a:t>
            </a:r>
            <a:r>
              <a:rPr dirty="0" err="1"/>
              <a:t>amount_to_orig_balance</a:t>
            </a:r>
            <a:r>
              <a:rPr dirty="0"/>
              <a:t>, </a:t>
            </a:r>
            <a:r>
              <a:rPr dirty="0" err="1"/>
              <a:t>amount_to_dest_balance</a:t>
            </a:r>
            <a:r>
              <a:rPr dirty="0"/>
              <a:t> (ratios)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</a:t>
            </a:r>
            <a:r>
              <a:rPr dirty="0" err="1"/>
              <a:t>dest_zero_balance_before</a:t>
            </a:r>
            <a:r>
              <a:rPr dirty="0"/>
              <a:t> (recipient zero balance flag)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Excluded Features (Data Leakage):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full_drain, </a:t>
            </a:r>
            <a:r>
              <a:rPr dirty="0" err="1"/>
              <a:t>newbalanceOrig</a:t>
            </a:r>
            <a:r>
              <a:rPr dirty="0"/>
              <a:t>, </a:t>
            </a:r>
            <a:r>
              <a:rPr dirty="0" err="1"/>
              <a:t>newbalanceDest</a:t>
            </a:r>
            <a:endParaRPr dirty="0"/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</a:t>
            </a:r>
            <a:r>
              <a:rPr dirty="0" err="1"/>
              <a:t>balance_change_orig</a:t>
            </a:r>
            <a:r>
              <a:rPr dirty="0"/>
              <a:t>, </a:t>
            </a:r>
            <a:r>
              <a:rPr dirty="0" err="1"/>
              <a:t>balance_change_dest</a:t>
            </a:r>
            <a:r>
              <a:rPr dirty="0"/>
              <a:t>, </a:t>
            </a:r>
            <a:r>
              <a:rPr dirty="0" err="1"/>
              <a:t>orig_balance_error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RQ1: Algorithm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Algorithms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Logistic Regression</a:t>
            </a:r>
          </a:p>
          <a:p>
            <a:pPr>
              <a:spcAft>
                <a:spcPts val="1400"/>
              </a:spcAft>
              <a:defRPr sz="2200"/>
            </a:pPr>
            <a:r>
              <a:t>•   - Linear baseline model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Decision Tree</a:t>
            </a:r>
          </a:p>
          <a:p>
            <a:pPr>
              <a:spcAft>
                <a:spcPts val="1400"/>
              </a:spcAft>
              <a:defRPr sz="2200"/>
            </a:pPr>
            <a:r>
              <a:t>•   - Simple tree-based classifier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Random Forest</a:t>
            </a:r>
          </a:p>
          <a:p>
            <a:pPr>
              <a:spcAft>
                <a:spcPts val="1400"/>
              </a:spcAft>
              <a:defRPr sz="2200"/>
            </a:pPr>
            <a:r>
              <a:t>•   - Ensemble of decision trees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Gradient Boosting</a:t>
            </a:r>
          </a:p>
          <a:p>
            <a:pPr>
              <a:spcAft>
                <a:spcPts val="1400"/>
              </a:spcAft>
              <a:defRPr sz="2200"/>
            </a:pPr>
            <a:r>
              <a:t>•   - Sequential boosting approach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XGBoost</a:t>
            </a:r>
          </a:p>
          <a:p>
            <a:pPr>
              <a:spcAft>
                <a:spcPts val="1400"/>
              </a:spcAft>
              <a:defRPr sz="2200"/>
            </a:pPr>
            <a:r>
              <a:t>•   - Optimized gradient boosting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Algorithm Performance (Safe Features)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4_rq1_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5943600" cy="4259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XGBoost: Best performer</a:t>
            </a:r>
          </a:p>
          <a:p>
            <a:pPr>
              <a:spcAft>
                <a:spcPts val="1200"/>
              </a:spcAft>
              <a:defRPr sz="1800"/>
            </a:pPr>
            <a:r>
              <a:t>•   AUC: 0.9977, Recall: 87.2%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Gradient Boosting:</a:t>
            </a:r>
          </a:p>
          <a:p>
            <a:pPr>
              <a:spcAft>
                <a:spcPts val="1200"/>
              </a:spcAft>
              <a:defRPr sz="1800"/>
            </a:pPr>
            <a:r>
              <a:t>•   AUC: 0.9861, Recall: 61.0%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Random Forest:</a:t>
            </a:r>
          </a:p>
          <a:p>
            <a:pPr>
              <a:spcAft>
                <a:spcPts val="1200"/>
              </a:spcAft>
              <a:defRPr sz="1800"/>
            </a:pPr>
            <a:r>
              <a:t>•   AUC: 0.9847, Recall: 52.8%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Decision Tree:</a:t>
            </a:r>
          </a:p>
          <a:p>
            <a:pPr>
              <a:spcAft>
                <a:spcPts val="1200"/>
              </a:spcAft>
              <a:defRPr sz="1800"/>
            </a:pPr>
            <a:r>
              <a:t>•   AUC: 0.9554, Recall: 53.7%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Logistic Regression:</a:t>
            </a:r>
          </a:p>
          <a:p>
            <a:pPr>
              <a:spcAft>
                <a:spcPts val="1200"/>
              </a:spcAft>
              <a:defRPr sz="1800"/>
            </a:pPr>
            <a:r>
              <a:t>•   AUC: 0.8258, Recall: 4.3%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ROC Curves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5_rq1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280160"/>
            <a:ext cx="8229600" cy="65642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Precision-Recall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6_rq1_precision_recal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280160"/>
            <a:ext cx="8229600" cy="65642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RQ1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XGBoost significantly outperforms all other algorithms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Tree-based ensemble methods dominate:</a:t>
            </a:r>
          </a:p>
          <a:p>
            <a:pPr>
              <a:spcAft>
                <a:spcPts val="1400"/>
              </a:spcAft>
              <a:defRPr sz="2200"/>
            </a:pPr>
            <a:r>
              <a:t>•   - Can capture non-linear fraud patterns</a:t>
            </a:r>
          </a:p>
          <a:p>
            <a:pPr>
              <a:spcAft>
                <a:spcPts val="1400"/>
              </a:spcAft>
              <a:defRPr sz="2200"/>
            </a:pPr>
            <a:r>
              <a:t>•   - Handle feature interactions effectively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Linear models (Logistic Regression) fail:</a:t>
            </a:r>
          </a:p>
          <a:p>
            <a:pPr>
              <a:spcAft>
                <a:spcPts val="1400"/>
              </a:spcAft>
              <a:defRPr sz="2200"/>
            </a:pPr>
            <a:r>
              <a:t>•   - Only 4.3% recall - nearly useless</a:t>
            </a:r>
          </a:p>
          <a:p>
            <a:pPr>
              <a:spcAft>
                <a:spcPts val="1400"/>
              </a:spcAft>
              <a:defRPr sz="2200"/>
            </a:pPr>
            <a:r>
              <a:t>•   - Fraud patterns are highly non-linear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Recommendation: XGBoost for production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RQ2: Feature Importance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Importance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7_rq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5943600" cy="2685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Top Features: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1. amount_to_orig_balance: 97.7%</a:t>
            </a:r>
          </a:p>
          <a:p>
            <a:pPr>
              <a:spcAft>
                <a:spcPts val="1200"/>
              </a:spcAft>
              <a:defRPr sz="1800"/>
            </a:pPr>
            <a:r>
              <a:t>•    Ratio of amount to sender balance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2. amount: 1.7%</a:t>
            </a:r>
          </a:p>
          <a:p>
            <a:pPr>
              <a:spcAft>
                <a:spcPts val="1200"/>
              </a:spcAft>
              <a:defRPr sz="1800"/>
            </a:pPr>
            <a:r>
              <a:t>•    Transaction amount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3. type_encoded: 0.3%</a:t>
            </a:r>
          </a:p>
          <a:p>
            <a:pPr>
              <a:spcAft>
                <a:spcPts val="1200"/>
              </a:spcAft>
              <a:defRPr sz="1800"/>
            </a:pPr>
            <a:r>
              <a:t>•    Transaction type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Dominant predictor: amount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Correlation with Fraud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8_rq2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280160"/>
            <a:ext cx="9144000" cy="60729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Top Feature Distributions by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09_rq2_top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80160"/>
            <a:ext cx="10058400" cy="6231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RQ2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amount_to_orig_balance dominates (97.7% importance)</a:t>
            </a:r>
          </a:p>
          <a:p>
            <a:pPr>
              <a:spcAft>
                <a:spcPts val="1400"/>
              </a:spcAft>
              <a:defRPr sz="2200"/>
            </a:pPr>
            <a:r>
              <a:t>•   - Fraudsters transfer large proportions of account balances</a:t>
            </a:r>
          </a:p>
          <a:p>
            <a:pPr>
              <a:spcAft>
                <a:spcPts val="1400"/>
              </a:spcAft>
              <a:defRPr sz="2200"/>
            </a:pPr>
            <a:r>
              <a:t>•   - High ratios indicate account draining attempts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Transaction amount is secondary indicator</a:t>
            </a:r>
          </a:p>
          <a:p>
            <a:pPr>
              <a:spcAft>
                <a:spcPts val="1400"/>
              </a:spcAft>
              <a:defRPr sz="2200"/>
            </a:pPr>
            <a:r>
              <a:t>•   - Fraudulent transactions are ~8x larger on average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Transaction type provides context</a:t>
            </a:r>
          </a:p>
          <a:p>
            <a:pPr>
              <a:spcAft>
                <a:spcPts val="1400"/>
              </a:spcAft>
              <a:defRPr sz="2200"/>
            </a:pPr>
            <a:r>
              <a:t>•   - TRANSFER and CASH_OUT are fraud-associated types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Key Insight: Amount ratios are more predictive than absolute amounts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RQ3: Class Imbalance Handling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Class Imbalance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Dataset Distribution:</a:t>
            </a:r>
          </a:p>
          <a:p>
            <a:pPr>
              <a:spcAft>
                <a:spcPts val="1400"/>
              </a:spcAft>
              <a:defRPr sz="2200"/>
            </a:pPr>
            <a:r>
              <a:t>•   - Legitimate: 6,354,407 (99.87%)</a:t>
            </a:r>
          </a:p>
          <a:p>
            <a:pPr>
              <a:spcAft>
                <a:spcPts val="1400"/>
              </a:spcAft>
              <a:defRPr sz="2200"/>
            </a:pPr>
            <a:r>
              <a:t>•   - Fraudulent: 8,213 (0.13%)</a:t>
            </a:r>
          </a:p>
          <a:p>
            <a:pPr>
              <a:spcAft>
                <a:spcPts val="1400"/>
              </a:spcAft>
              <a:defRPr sz="2200"/>
            </a:pPr>
            <a:r>
              <a:t>•   - Imbalance ratio: 773:1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Without handling, models:</a:t>
            </a:r>
          </a:p>
          <a:p>
            <a:pPr>
              <a:spcAft>
                <a:spcPts val="1400"/>
              </a:spcAft>
              <a:defRPr sz="2200"/>
            </a:pPr>
            <a:r>
              <a:t>•   - Predict everything as legitimate</a:t>
            </a:r>
          </a:p>
          <a:p>
            <a:pPr>
              <a:spcAft>
                <a:spcPts val="1400"/>
              </a:spcAft>
              <a:defRPr sz="2200"/>
            </a:pPr>
            <a:r>
              <a:t>•   - Miss most fraudulent transactions</a:t>
            </a:r>
          </a:p>
          <a:p>
            <a:pPr>
              <a:spcAft>
                <a:spcPts val="1400"/>
              </a:spcAft>
              <a:defRPr sz="2200"/>
            </a:pPr>
            <a:r>
              <a:t>•   - High accuracy but useless for fraud detection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Imbalance Handling Methods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0_rq3_imbal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5943600" cy="4250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1. Baseline (no handling)</a:t>
            </a:r>
          </a:p>
          <a:p>
            <a:pPr>
              <a:spcAft>
                <a:spcPts val="1200"/>
              </a:spcAft>
              <a:defRPr sz="1800"/>
            </a:pPr>
            <a:r>
              <a:t>•    Standard XGBoost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2. Random Undersampling</a:t>
            </a:r>
          </a:p>
          <a:p>
            <a:pPr>
              <a:spcAft>
                <a:spcPts val="1200"/>
              </a:spcAft>
              <a:defRPr sz="1800"/>
            </a:pPr>
            <a:r>
              <a:t>•    Reduce majority class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3. SMOTE (Synthetic Oversampling)</a:t>
            </a:r>
          </a:p>
          <a:p>
            <a:pPr>
              <a:spcAft>
                <a:spcPts val="1200"/>
              </a:spcAft>
              <a:defRPr sz="1800"/>
            </a:pPr>
            <a:r>
              <a:t>•    Generate synthetic minority samples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4. Class Weighting (scale_pos_weight)</a:t>
            </a:r>
          </a:p>
          <a:p>
            <a:pPr>
              <a:spcAft>
                <a:spcPts val="1200"/>
              </a:spcAft>
              <a:defRPr sz="1800"/>
            </a:pPr>
            <a:r>
              <a:t>•    Weight fraud samples higher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5. Combined Approach</a:t>
            </a:r>
          </a:p>
          <a:p>
            <a:pPr>
              <a:spcAft>
                <a:spcPts val="1200"/>
              </a:spcAft>
              <a:defRPr sz="1800"/>
            </a:pPr>
            <a:r>
              <a:t>•    Undersampling + weighting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Precision vs Recall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1_rq3_precision_recall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280160"/>
            <a:ext cx="9144000" cy="37600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Confusion Matrices by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2_rq3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80160"/>
            <a:ext cx="10972800" cy="220010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ROC Curves - Imbalance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3_rq3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280160"/>
            <a:ext cx="8229600" cy="65642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Threshold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5_rq3_threshol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80160"/>
            <a:ext cx="10058400" cy="35819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RQ3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Method               Recall    Precision   Missed Frauds</a:t>
            </a:r>
          </a:p>
          <a:p>
            <a:pPr>
              <a:spcAft>
                <a:spcPts val="1400"/>
              </a:spcAft>
              <a:defRPr sz="2200"/>
            </a:pPr>
            <a:r>
              <a:t>• -------------------------------------------------------</a:t>
            </a:r>
          </a:p>
          <a:p>
            <a:pPr>
              <a:spcAft>
                <a:spcPts val="1400"/>
              </a:spcAft>
              <a:defRPr sz="2200"/>
            </a:pPr>
            <a:r>
              <a:t>• Baseline XGBoost     87.2%     94.5%       315</a:t>
            </a:r>
          </a:p>
          <a:p>
            <a:pPr>
              <a:spcAft>
                <a:spcPts val="1400"/>
              </a:spcAft>
              <a:defRPr sz="2200"/>
            </a:pPr>
            <a:r>
              <a:t>• Undersampled         99.2%     24.4%       20</a:t>
            </a:r>
          </a:p>
          <a:p>
            <a:pPr>
              <a:spcAft>
                <a:spcPts val="1400"/>
              </a:spcAft>
              <a:defRPr sz="2200"/>
            </a:pPr>
            <a:r>
              <a:t>• SMOTE                98.8%     55.3%       29</a:t>
            </a:r>
          </a:p>
          <a:p>
            <a:pPr>
              <a:spcAft>
                <a:spcPts val="1400"/>
              </a:spcAft>
              <a:defRPr sz="2200"/>
            </a:pPr>
            <a:r>
              <a:t>• Weighted XGBoost     99.3%     60.3%       18</a:t>
            </a:r>
          </a:p>
          <a:p>
            <a:pPr>
              <a:spcAft>
                <a:spcPts val="1400"/>
              </a:spcAft>
              <a:defRPr sz="2200"/>
            </a:pPr>
            <a:r>
              <a:t>• Combined XGBoost     99.4%     36.9%       16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Best Recall: Combined XGBoost (99.4%)</a:t>
            </a:r>
          </a:p>
          <a:p>
            <a:pPr>
              <a:spcAft>
                <a:spcPts val="1400"/>
              </a:spcAft>
              <a:defRPr sz="2200"/>
            </a:pPr>
            <a:r>
              <a:t>• Best Balance: Weighted XGBoost (99.3% recall, 60.3% precision)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RQ1: XGBoost achieves best performance (AUC 0.9977)</a:t>
            </a:r>
          </a:p>
          <a:p>
            <a:pPr>
              <a:spcAft>
                <a:spcPts val="1400"/>
              </a:spcAft>
              <a:defRPr sz="2200"/>
            </a:pPr>
            <a:r>
              <a:t>•       Tree-based ensembles outperform linear models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RQ2: amount_to_orig_balance is dominant predictor (97.7%)</a:t>
            </a:r>
          </a:p>
          <a:p>
            <a:pPr>
              <a:spcAft>
                <a:spcPts val="1400"/>
              </a:spcAft>
              <a:defRPr sz="2200"/>
            </a:pPr>
            <a:r>
              <a:t>•       Fraudsters drain large proportions of account balances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RQ3: Class weighting provides best precision-recall balance</a:t>
            </a:r>
          </a:p>
          <a:p>
            <a:pPr>
              <a:spcAft>
                <a:spcPts val="1400"/>
              </a:spcAft>
              <a:defRPr sz="2200"/>
            </a:pPr>
            <a:r>
              <a:t>•       99.3% recall with 60.3% precision using Weighted XGBoost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Critical: Data leakage identification ensures realistic expectations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6_fin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80160"/>
            <a:ext cx="10058400" cy="278151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Practical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For Production Deployment: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1. Use XGBoost with class weighting (scale_pos_weight)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2. Monitor amount_to_orig_balance as primary risk indicator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3. Lower decision threshold (0.3-0.4) to catch more fraud</a:t>
            </a:r>
          </a:p>
          <a:p>
            <a:pPr>
              <a:spcAft>
                <a:spcPts val="1400"/>
              </a:spcAft>
              <a:defRPr sz="2200"/>
            </a:pPr>
            <a:r>
              <a:t>•    Accept higher false positives to minimize missed frauds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4. Focus on TRANSFER and CASH_OUT transaction types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5. Real-time monitoring of pre-transaction features only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• Limitations: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Synthetic dataset may not fully reflect real fraud patterns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Limited feature engineering due to data leakage constraints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No temporal pattern analysis across user history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Future Directions: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Real-world dataset validation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Deep learning approaches (LSTM for sequences)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Graph neural networks for transaction networks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Online learning for adapting to new fraud patterns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•   - Cost-sensitive learning based on transaction amounts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1238</Words>
  <Application>Microsoft Office PowerPoint</Application>
  <PresentationFormat>Widescreen</PresentationFormat>
  <Paragraphs>218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 Hickey</cp:lastModifiedBy>
  <cp:revision>2</cp:revision>
  <dcterms:created xsi:type="dcterms:W3CDTF">2013-01-27T09:14:16Z</dcterms:created>
  <dcterms:modified xsi:type="dcterms:W3CDTF">2026-04-08T08:56:35Z</dcterms:modified>
  <cp:category/>
</cp:coreProperties>
</file>